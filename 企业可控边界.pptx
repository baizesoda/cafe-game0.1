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46304" y="91440"/>
            <a:ext cx="3127248" cy="6675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CE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346704" y="91440"/>
            <a:ext cx="5779008" cy="6675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CE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53728" y="91440"/>
            <a:ext cx="2788920" cy="6675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CE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" y="182880"/>
            <a:ext cx="3017520" cy="475488"/>
          </a:xfrm>
          <a:prstGeom prst="roundRect">
            <a:avLst>
              <a:gd name="adj" fmla="val 18000"/>
            </a:avLst>
          </a:prstGeom>
          <a:solidFill>
            <a:srgbClr val="EAF3FE"/>
          </a:solidFill>
          <a:ln w="12700">
            <a:solidFill>
              <a:srgbClr val="D8E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182880"/>
            <a:ext cx="30175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1A3A6B"/>
                </a:solidFill>
                <a:latin typeface="PingFang SC"/>
              </a:rPr>
              <a:t>企业推广 AI 最关心的三件事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08592" y="182880"/>
            <a:ext cx="2679191" cy="475488"/>
          </a:xfrm>
          <a:prstGeom prst="roundRect">
            <a:avLst>
              <a:gd name="adj" fmla="val 18000"/>
            </a:avLst>
          </a:prstGeom>
          <a:solidFill>
            <a:srgbClr val="EAF3FE"/>
          </a:solidFill>
          <a:ln w="12700">
            <a:solidFill>
              <a:srgbClr val="D8E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08592" y="182880"/>
            <a:ext cx="2679191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1A3A6B"/>
                </a:solidFill>
                <a:latin typeface="PingFang SC"/>
              </a:rPr>
              <a:t>当前安全价值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" y="804672"/>
            <a:ext cx="2907791" cy="18105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" y="1060704"/>
            <a:ext cx="585216" cy="585216"/>
          </a:xfrm>
          <a:prstGeom prst="roundRect">
            <a:avLst>
              <a:gd name="adj" fmla="val 2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060704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A56DB"/>
                </a:solidFill>
                <a:latin typeface="PingFang SC"/>
              </a:rPr>
              <a:t>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1024128"/>
            <a:ext cx="18653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565C0"/>
                </a:solidFill>
                <a:latin typeface="PingFang SC"/>
              </a:rPr>
              <a:t>数据会不会越权访问？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1737360"/>
            <a:ext cx="186537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3F4E62"/>
                </a:solidFill>
                <a:latin typeface="PingFang SC"/>
              </a:rPr>
              <a:t>员工、Agent、Skill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3F4E62"/>
                </a:solidFill>
                <a:latin typeface="PingFang SC"/>
              </a:rPr>
              <a:t>是否会访问不该访问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3F4E62"/>
                </a:solidFill>
                <a:latin typeface="PingFang SC"/>
              </a:rPr>
              <a:t>的数据。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" y="2761488"/>
            <a:ext cx="2907791" cy="18105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912" y="3017520"/>
            <a:ext cx="585216" cy="585216"/>
          </a:xfrm>
          <a:prstGeom prst="roundRect">
            <a:avLst>
              <a:gd name="adj" fmla="val 28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3017520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EF7C1A"/>
                </a:solidFill>
                <a:latin typeface="PingFang SC"/>
              </a:rPr>
              <a:t>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" y="2980944"/>
            <a:ext cx="18653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E06C00"/>
                </a:solidFill>
                <a:latin typeface="PingFang SC"/>
              </a:rPr>
              <a:t>AI 会不会执行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E06C00"/>
                </a:solidFill>
                <a:latin typeface="PingFang SC"/>
              </a:rPr>
              <a:t>高风险操作？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694176"/>
            <a:ext cx="186537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3F4E62"/>
                </a:solidFill>
                <a:latin typeface="PingFang SC"/>
              </a:rPr>
              <a:t>如删除文件、发送邮件、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3F4E62"/>
                </a:solidFill>
                <a:latin typeface="PingFang SC"/>
              </a:rPr>
              <a:t>调用接口、外发信息等。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" y="4718304"/>
            <a:ext cx="2907791" cy="18105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8912" y="4974336"/>
            <a:ext cx="585216" cy="585216"/>
          </a:xfrm>
          <a:prstGeom prst="roundRect">
            <a:avLst>
              <a:gd name="adj" fmla="val 2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4974336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A56DB"/>
                </a:solidFill>
                <a:latin typeface="PingFang SC"/>
              </a:rPr>
              <a:t>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" y="4937760"/>
            <a:ext cx="18653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565C0"/>
                </a:solidFill>
                <a:latin typeface="PingFang SC"/>
              </a:rPr>
              <a:t>能力开放后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565C0"/>
                </a:solidFill>
                <a:latin typeface="PingFang SC"/>
              </a:rPr>
              <a:t>是否可管可追溯？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" y="5650992"/>
            <a:ext cx="186537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3F4E62"/>
                </a:solidFill>
                <a:latin typeface="PingFang SC"/>
              </a:rPr>
              <a:t>模型、Skill、工具、网络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3F4E62"/>
                </a:solidFill>
                <a:latin typeface="PingFang SC"/>
              </a:rPr>
              <a:t>访问和操作过程是否可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3F4E62"/>
                </a:solidFill>
                <a:latin typeface="PingFang SC"/>
              </a:rPr>
              <a:t>授权、可审计。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596127" y="1261872"/>
            <a:ext cx="459554" cy="1527529"/>
          </a:xfrm>
          <a:prstGeom prst="line">
            <a:avLst/>
          </a:prstGeom>
          <a:ln w="13970">
            <a:solidFill>
              <a:srgbClr val="A9C9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554979" y="1220724"/>
            <a:ext cx="82296" cy="82296"/>
          </a:xfrm>
          <a:prstGeom prst="ellipse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H="1">
            <a:off x="6435022" y="1261872"/>
            <a:ext cx="459554" cy="1527529"/>
          </a:xfrm>
          <a:prstGeom prst="line">
            <a:avLst/>
          </a:prstGeom>
          <a:ln w="13970">
            <a:solidFill>
              <a:srgbClr val="A9C9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6853428" y="1220724"/>
            <a:ext cx="82296" cy="82296"/>
          </a:xfrm>
          <a:prstGeom prst="ellipse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53428" y="3378708"/>
            <a:ext cx="82296" cy="82296"/>
          </a:xfrm>
          <a:prstGeom prst="ellipse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6435022" y="4050310"/>
            <a:ext cx="459554" cy="1527530"/>
          </a:xfrm>
          <a:prstGeom prst="line">
            <a:avLst/>
          </a:prstGeom>
          <a:ln w="13970">
            <a:solidFill>
              <a:srgbClr val="A9C9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6853428" y="5536692"/>
            <a:ext cx="82296" cy="82296"/>
          </a:xfrm>
          <a:prstGeom prst="ellipse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 flipV="1">
            <a:off x="5596127" y="4050310"/>
            <a:ext cx="459554" cy="1527530"/>
          </a:xfrm>
          <a:prstGeom prst="line">
            <a:avLst/>
          </a:prstGeom>
          <a:ln w="13970">
            <a:solidFill>
              <a:srgbClr val="A9C9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5554979" y="5536692"/>
            <a:ext cx="82296" cy="82296"/>
          </a:xfrm>
          <a:prstGeom prst="ellipse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554979" y="3378708"/>
            <a:ext cx="82296" cy="82296"/>
          </a:xfrm>
          <a:prstGeom prst="ellipse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474720" y="274320"/>
            <a:ext cx="2121408" cy="19751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9E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593591" y="393192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93591" y="393192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05072" y="374904"/>
            <a:ext cx="14813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A56DB"/>
                </a:solidFill>
                <a:latin typeface="PingFang SC"/>
              </a:rPr>
              <a:t>会话级隔离与授权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48456" y="116128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48456" y="116128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A56DB"/>
                </a:solidFill>
                <a:latin typeface="PingFang SC"/>
              </a:rPr>
              <a:t>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79392" y="1005840"/>
            <a:ext cx="122529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 b="0">
                <a:solidFill>
                  <a:srgbClr val="3F4E62"/>
                </a:solidFill>
                <a:latin typeface="PingFang SC"/>
              </a:rPr>
              <a:t>• 会话数据隔离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 b="0">
                <a:solidFill>
                  <a:srgbClr val="3F4E62"/>
                </a:solidFill>
                <a:latin typeface="PingFang SC"/>
              </a:rPr>
              <a:t>• 用户授权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 b="0">
                <a:solidFill>
                  <a:srgbClr val="3F4E62"/>
                </a:solidFill>
                <a:latin typeface="PingFang SC"/>
              </a:rPr>
              <a:t>• 超时销毁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 b="0">
                <a:solidFill>
                  <a:srgbClr val="3F4E62"/>
                </a:solidFill>
                <a:latin typeface="PingFang SC"/>
              </a:rPr>
              <a:t>• 避免上下文串扰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94576" y="274320"/>
            <a:ext cx="2121408" cy="19751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9E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013448" y="393192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13448" y="393192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24927" y="374904"/>
            <a:ext cx="14813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F9D55"/>
                </a:solidFill>
                <a:latin typeface="PingFang SC"/>
              </a:rPr>
              <a:t>云端沙箱安全运行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068312" y="116128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7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68312" y="116128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F9D55"/>
                </a:solidFill>
                <a:latin typeface="PingFang SC"/>
              </a:rPr>
              <a:t>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9248" y="1005840"/>
            <a:ext cx="122529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 b="0">
                <a:solidFill>
                  <a:srgbClr val="3F4E62"/>
                </a:solidFill>
                <a:latin typeface="PingFang SC"/>
              </a:rPr>
              <a:t>• 沙箱隔离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 b="0">
                <a:solidFill>
                  <a:srgbClr val="3F4E62"/>
                </a:solidFill>
                <a:latin typeface="PingFang SC"/>
              </a:rPr>
              <a:t>• 环境受控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 b="0">
                <a:solidFill>
                  <a:srgbClr val="3F4E62"/>
                </a:solidFill>
                <a:latin typeface="PingFang SC"/>
              </a:rPr>
              <a:t>• 资源按需分配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 b="0">
                <a:solidFill>
                  <a:srgbClr val="3F4E62"/>
                </a:solidFill>
                <a:latin typeface="PingFang SC"/>
              </a:rPr>
              <a:t>• 降低宿主系统风险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94576" y="2432304"/>
            <a:ext cx="2121408" cy="19751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9E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013448" y="2551176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EF7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13448" y="2551176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24927" y="2532888"/>
            <a:ext cx="14813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EF7C1A"/>
                </a:solidFill>
                <a:latin typeface="PingFang SC"/>
              </a:rPr>
              <a:t>风险操作二次确认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068312" y="331927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68312" y="331927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EF7C1A"/>
                </a:solidFill>
                <a:latin typeface="PingFang SC"/>
              </a:rPr>
              <a:t>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99248" y="3163824"/>
            <a:ext cx="122529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 b="0">
                <a:solidFill>
                  <a:srgbClr val="3F4E62"/>
                </a:solidFill>
                <a:latin typeface="PingFang SC"/>
              </a:rPr>
              <a:t>• 删除确认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 b="0">
                <a:solidFill>
                  <a:srgbClr val="3F4E62"/>
                </a:solidFill>
                <a:latin typeface="PingFang SC"/>
              </a:rPr>
              <a:t>• 邮件发送确认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 b="0">
                <a:solidFill>
                  <a:srgbClr val="3F4E62"/>
                </a:solidFill>
                <a:latin typeface="PingFang SC"/>
              </a:rPr>
              <a:t>• 外发风险提示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 b="0">
                <a:solidFill>
                  <a:srgbClr val="3F4E62"/>
                </a:solidFill>
                <a:latin typeface="PingFang SC"/>
              </a:rPr>
              <a:t>• 高危操作拦截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894576" y="4590288"/>
            <a:ext cx="2121408" cy="19751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9E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013448" y="4709159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7C4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13448" y="4709159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24927" y="4690872"/>
            <a:ext cx="14813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7C4DCF"/>
                </a:solidFill>
                <a:latin typeface="PingFang SC"/>
              </a:rPr>
              <a:t>模型内容安全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068312" y="5477256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1E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068312" y="547725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7C4DCF"/>
                </a:solidFill>
                <a:latin typeface="PingFang SC"/>
              </a:rPr>
              <a:t>🧊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99248" y="5321807"/>
            <a:ext cx="122529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 b="0">
                <a:solidFill>
                  <a:srgbClr val="3F4E62"/>
                </a:solidFill>
                <a:latin typeface="PingFang SC"/>
              </a:rPr>
              <a:t>• 内容安全检测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 b="0">
                <a:solidFill>
                  <a:srgbClr val="3F4E62"/>
                </a:solidFill>
                <a:latin typeface="PingFang SC"/>
              </a:rPr>
              <a:t>• 敏感信息保护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 b="0">
                <a:solidFill>
                  <a:srgbClr val="3F4E62"/>
                </a:solidFill>
                <a:latin typeface="PingFang SC"/>
              </a:rPr>
              <a:t>• 恶意指令识别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 b="0">
                <a:solidFill>
                  <a:srgbClr val="3F4E62"/>
                </a:solidFill>
                <a:latin typeface="PingFang SC"/>
              </a:rPr>
              <a:t>• 输出合规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474720" y="4590288"/>
            <a:ext cx="2121408" cy="19751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9E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3593591" y="4709159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593591" y="4709159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ingFang SC"/>
              </a:rPr>
              <a:t>05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005072" y="4690872"/>
            <a:ext cx="14813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0F7B8A"/>
                </a:solidFill>
                <a:latin typeface="PingFang SC"/>
              </a:rPr>
              <a:t>Skills 安全检测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648456" y="5477256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48456" y="547725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0F7B8A"/>
                </a:solidFill>
                <a:latin typeface="PingFang SC"/>
              </a:rPr>
              <a:t>&lt;/&gt;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79392" y="5321807"/>
            <a:ext cx="122529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 b="0">
                <a:solidFill>
                  <a:srgbClr val="3F4E62"/>
                </a:solidFill>
                <a:latin typeface="PingFang SC"/>
              </a:rPr>
              <a:t>• Skill 检测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 b="0">
                <a:solidFill>
                  <a:srgbClr val="3F4E62"/>
                </a:solidFill>
                <a:latin typeface="PingFang SC"/>
              </a:rPr>
              <a:t>• 第三方能力审核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 b="0">
                <a:solidFill>
                  <a:srgbClr val="3F4E62"/>
                </a:solidFill>
                <a:latin typeface="PingFang SC"/>
              </a:rPr>
              <a:t>• 风险能力拦截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 b="0">
                <a:solidFill>
                  <a:srgbClr val="3F4E62"/>
                </a:solidFill>
                <a:latin typeface="PingFang SC"/>
              </a:rPr>
              <a:t>• 供应链风险防范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474720" y="2432304"/>
            <a:ext cx="2121408" cy="19751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9E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593591" y="2551176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593591" y="2551176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ingFang SC"/>
              </a:rPr>
              <a:t>06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005072" y="2532888"/>
            <a:ext cx="14813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A56DB"/>
                </a:solidFill>
                <a:latin typeface="PingFang SC"/>
              </a:rPr>
              <a:t>细粒度权限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A56DB"/>
                </a:solidFill>
                <a:latin typeface="PingFang SC"/>
              </a:rPr>
              <a:t>访问控制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648456" y="331927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48456" y="331927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A56DB"/>
                </a:solidFill>
                <a:latin typeface="PingFang SC"/>
              </a:rPr>
              <a:t>🔒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79392" y="3163824"/>
            <a:ext cx="122529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 b="0">
                <a:solidFill>
                  <a:srgbClr val="3F4E62"/>
                </a:solidFill>
                <a:latin typeface="PingFang SC"/>
              </a:rPr>
              <a:t>• 角色权限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 b="0">
                <a:solidFill>
                  <a:srgbClr val="3F4E62"/>
                </a:solidFill>
                <a:latin typeface="PingFang SC"/>
              </a:rPr>
              <a:t>• 资源授权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 b="0">
                <a:solidFill>
                  <a:srgbClr val="3F4E62"/>
                </a:solidFill>
                <a:latin typeface="PingFang SC"/>
              </a:rPr>
              <a:t>• 网络白名单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 b="0">
                <a:solidFill>
                  <a:srgbClr val="3F4E62"/>
                </a:solidFill>
                <a:latin typeface="PingFang SC"/>
              </a:rPr>
              <a:t>• 操作审计</a:t>
            </a:r>
          </a:p>
        </p:txBody>
      </p:sp>
      <p:sp>
        <p:nvSpPr>
          <p:cNvPr id="77" name="Oval 76"/>
          <p:cNvSpPr/>
          <p:nvPr/>
        </p:nvSpPr>
        <p:spPr>
          <a:xfrm>
            <a:off x="5596128" y="2770632"/>
            <a:ext cx="1298448" cy="1298448"/>
          </a:xfrm>
          <a:prstGeom prst="ellipse">
            <a:avLst/>
          </a:prstGeom>
          <a:noFill/>
          <a:ln w="15240">
            <a:solidFill>
              <a:srgbClr val="BBD6F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650992" y="2825496"/>
            <a:ext cx="1188720" cy="11887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E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6016752" y="28803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016752" y="28803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PingFang SC"/>
              </a:rPr>
              <a:t>✓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77840" y="3401568"/>
            <a:ext cx="13350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A3A6B"/>
                </a:solidFill>
                <a:latin typeface="PingFang SC"/>
              </a:rPr>
              <a:t>企业可控边界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32120" y="3657600"/>
            <a:ext cx="142646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A7A9A"/>
                </a:solidFill>
                <a:latin typeface="PingFang SC"/>
              </a:rPr>
              <a:t>安全 | 可控 | 可审计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363455" y="804672"/>
            <a:ext cx="2569463" cy="1353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9518904" y="1197864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E7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518904" y="119786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F9D55"/>
                </a:solidFill>
                <a:latin typeface="PingFang SC"/>
              </a:rPr>
              <a:t>🛡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149839" y="1078992"/>
            <a:ext cx="167335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F9D55"/>
                </a:solidFill>
                <a:latin typeface="PingFang SC"/>
              </a:rPr>
              <a:t>权限有边界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149839" y="1426464"/>
            <a:ext cx="167335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3F4E62"/>
                </a:solidFill>
                <a:latin typeface="PingFang SC"/>
              </a:rPr>
              <a:t>不同角色、部门、用户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3F4E62"/>
                </a:solidFill>
                <a:latin typeface="PingFang SC"/>
              </a:rPr>
              <a:t>只能使用被授权能力。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363455" y="2276856"/>
            <a:ext cx="2569463" cy="1353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9518904" y="2670048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518904" y="267004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A56DB"/>
                </a:solidFill>
                <a:latin typeface="PingFang SC"/>
              </a:rPr>
              <a:t>🧊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149839" y="2551176"/>
            <a:ext cx="167335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56DB"/>
                </a:solidFill>
                <a:latin typeface="PingFang SC"/>
              </a:rPr>
              <a:t>执行有隔离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149839" y="2898648"/>
            <a:ext cx="167335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3F4E62"/>
                </a:solidFill>
                <a:latin typeface="PingFang SC"/>
              </a:rPr>
              <a:t>AI 执行动作在受控环境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3F4E62"/>
                </a:solidFill>
                <a:latin typeface="PingFang SC"/>
              </a:rPr>
              <a:t>内完成，降低系统风险。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363455" y="3749040"/>
            <a:ext cx="2569463" cy="1353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9518904" y="4142232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518904" y="414223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EF7C1A"/>
                </a:solidFill>
                <a:latin typeface="PingFang SC"/>
              </a:rPr>
              <a:t>✔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149839" y="4023360"/>
            <a:ext cx="167335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EF7C1A"/>
                </a:solidFill>
                <a:latin typeface="PingFang SC"/>
              </a:rPr>
              <a:t>高危有确认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149839" y="4370832"/>
            <a:ext cx="167335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3F4E62"/>
                </a:solidFill>
                <a:latin typeface="PingFang SC"/>
              </a:rPr>
              <a:t>关键动作执行前可提醒、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3F4E62"/>
                </a:solidFill>
                <a:latin typeface="PingFang SC"/>
              </a:rPr>
              <a:t>确认、阻断。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363455" y="5221224"/>
            <a:ext cx="2569463" cy="1353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9518904" y="5614416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F1E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518904" y="561441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7C4DCF"/>
                </a:solidFill>
                <a:latin typeface="PingFang SC"/>
              </a:rPr>
              <a:t>📄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149839" y="5495544"/>
            <a:ext cx="167335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7C4DCF"/>
                </a:solidFill>
                <a:latin typeface="PingFang SC"/>
              </a:rPr>
              <a:t>过程可追溯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149839" y="5843016"/>
            <a:ext cx="167335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3F4E62"/>
                </a:solidFill>
                <a:latin typeface="PingFang SC"/>
              </a:rPr>
              <a:t>关键调用、操作和风险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solidFill>
                  <a:srgbClr val="3F4E62"/>
                </a:solidFill>
                <a:latin typeface="PingFang SC"/>
              </a:rPr>
              <a:t>事件可留痕迹。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